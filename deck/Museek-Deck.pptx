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33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90372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740664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90956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41248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91540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941832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92124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927080" y="5486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90372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40664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790956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48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91540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41832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92124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42416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0927080" y="105156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90372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790956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841248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891540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941832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92124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042416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10927080" y="155448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40080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90372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40664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790956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841248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891540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941832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992124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042416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10927080" y="205740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40080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690372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740664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790956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841248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891540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941832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992124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1042416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10927080" y="256032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640080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690372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740664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790956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841248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891540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6"/>
          <p:cNvSpPr/>
          <p:nvPr/>
        </p:nvSpPr>
        <p:spPr>
          <a:xfrm>
            <a:off x="941832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7"/>
          <p:cNvSpPr/>
          <p:nvPr/>
        </p:nvSpPr>
        <p:spPr>
          <a:xfrm>
            <a:off x="992124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1042416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10927080" y="3063240"/>
            <a:ext cx="54864" cy="54864"/>
          </a:xfrm>
          <a:prstGeom prst="ellipse">
            <a:avLst/>
          </a:prstGeom>
          <a:solidFill>
            <a:srgbClr val="F5B841">
              <a:alpha val="40000"/>
            </a:srgbClr>
          </a:solidFill>
          <a:ln w="12700">
            <a:solidFill>
              <a:srgbClr val="F5B84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60"/>
          <p:cNvSpPr/>
          <p:nvPr/>
        </p:nvSpPr>
        <p:spPr>
          <a:xfrm>
            <a:off x="640080" y="1097280"/>
            <a:ext cx="822960" cy="5486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2026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1645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</a:t>
            </a:r>
            <a:endParaRPr lang="en-US" sz="9600" dirty="0"/>
          </a:p>
        </p:txBody>
      </p:sp>
      <p:sp>
        <p:nvSpPr>
          <p:cNvPr id="65" name="Text 63"/>
          <p:cNvSpPr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你的音樂探索夥伴，而不只是推薦引擎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54864" cy="13716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914400" y="4160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用一句話描述心情，Agent 主動探索、分析、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並解釋「為什麼你會喜歡」。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40080" y="6332220"/>
            <a:ext cx="125730" cy="16002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67"/>
          <p:cNvSpPr/>
          <p:nvPr/>
        </p:nvSpPr>
        <p:spPr>
          <a:xfrm>
            <a:off x="868680" y="5956176"/>
            <a:ext cx="125730" cy="53606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Shape 68"/>
          <p:cNvSpPr/>
          <p:nvPr/>
        </p:nvSpPr>
        <p:spPr>
          <a:xfrm>
            <a:off x="1097280" y="5864715"/>
            <a:ext cx="125730" cy="62752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Shape 69"/>
          <p:cNvSpPr/>
          <p:nvPr/>
        </p:nvSpPr>
        <p:spPr>
          <a:xfrm>
            <a:off x="1325880" y="6127052"/>
            <a:ext cx="125730" cy="36518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70"/>
          <p:cNvSpPr/>
          <p:nvPr/>
        </p:nvSpPr>
        <p:spPr>
          <a:xfrm>
            <a:off x="1554480" y="6119784"/>
            <a:ext cx="125730" cy="372456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71"/>
          <p:cNvSpPr/>
          <p:nvPr/>
        </p:nvSpPr>
        <p:spPr>
          <a:xfrm>
            <a:off x="1783080" y="5862947"/>
            <a:ext cx="125730" cy="62929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Shape 72"/>
          <p:cNvSpPr/>
          <p:nvPr/>
        </p:nvSpPr>
        <p:spPr>
          <a:xfrm>
            <a:off x="2011680" y="5961247"/>
            <a:ext cx="125730" cy="53099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Shape 73"/>
          <p:cNvSpPr/>
          <p:nvPr/>
        </p:nvSpPr>
        <p:spPr>
          <a:xfrm>
            <a:off x="2240280" y="6324148"/>
            <a:ext cx="125730" cy="16809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hape 74"/>
          <p:cNvSpPr/>
          <p:nvPr/>
        </p:nvSpPr>
        <p:spPr>
          <a:xfrm>
            <a:off x="2468880" y="5951212"/>
            <a:ext cx="125730" cy="5410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Shape 75"/>
          <p:cNvSpPr/>
          <p:nvPr/>
        </p:nvSpPr>
        <p:spPr>
          <a:xfrm>
            <a:off x="2697480" y="5866615"/>
            <a:ext cx="125730" cy="62562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6"/>
          <p:cNvSpPr/>
          <p:nvPr/>
        </p:nvSpPr>
        <p:spPr>
          <a:xfrm>
            <a:off x="2926080" y="6134378"/>
            <a:ext cx="125730" cy="35786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Shape 77"/>
          <p:cNvSpPr/>
          <p:nvPr/>
        </p:nvSpPr>
        <p:spPr>
          <a:xfrm>
            <a:off x="3154680" y="6112575"/>
            <a:ext cx="125730" cy="37966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Shape 78"/>
          <p:cNvSpPr/>
          <p:nvPr/>
        </p:nvSpPr>
        <p:spPr>
          <a:xfrm>
            <a:off x="3383280" y="5861312"/>
            <a:ext cx="125730" cy="6309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Shape 79"/>
          <p:cNvSpPr/>
          <p:nvPr/>
        </p:nvSpPr>
        <p:spPr>
          <a:xfrm>
            <a:off x="3611880" y="5966422"/>
            <a:ext cx="125730" cy="52581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Shape 80"/>
          <p:cNvSpPr/>
          <p:nvPr/>
        </p:nvSpPr>
        <p:spPr>
          <a:xfrm>
            <a:off x="3840480" y="6316079"/>
            <a:ext cx="125730" cy="17616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Shape 81"/>
          <p:cNvSpPr/>
          <p:nvPr/>
        </p:nvSpPr>
        <p:spPr>
          <a:xfrm>
            <a:off x="4069080" y="5946355"/>
            <a:ext cx="125730" cy="54588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Shape 82"/>
          <p:cNvSpPr/>
          <p:nvPr/>
        </p:nvSpPr>
        <p:spPr>
          <a:xfrm>
            <a:off x="4297680" y="5868646"/>
            <a:ext cx="125730" cy="62359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Shape 83"/>
          <p:cNvSpPr/>
          <p:nvPr/>
        </p:nvSpPr>
        <p:spPr>
          <a:xfrm>
            <a:off x="4526280" y="6141761"/>
            <a:ext cx="125730" cy="35047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Shape 84"/>
          <p:cNvSpPr/>
          <p:nvPr/>
        </p:nvSpPr>
        <p:spPr>
          <a:xfrm>
            <a:off x="4754880" y="6105429"/>
            <a:ext cx="125730" cy="38681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Shape 85"/>
          <p:cNvSpPr/>
          <p:nvPr/>
        </p:nvSpPr>
        <p:spPr>
          <a:xfrm>
            <a:off x="4983480" y="5859810"/>
            <a:ext cx="125730" cy="63243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Shape 86"/>
          <p:cNvSpPr/>
          <p:nvPr/>
        </p:nvSpPr>
        <p:spPr>
          <a:xfrm>
            <a:off x="5212080" y="5971701"/>
            <a:ext cx="125730" cy="52053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Shape 87"/>
          <p:cNvSpPr/>
          <p:nvPr/>
        </p:nvSpPr>
        <p:spPr>
          <a:xfrm>
            <a:off x="5440680" y="6308014"/>
            <a:ext cx="125730" cy="184226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hape 88"/>
          <p:cNvSpPr/>
          <p:nvPr/>
        </p:nvSpPr>
        <p:spPr>
          <a:xfrm>
            <a:off x="5669280" y="5941608"/>
            <a:ext cx="125730" cy="55063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Shape 89"/>
          <p:cNvSpPr/>
          <p:nvPr/>
        </p:nvSpPr>
        <p:spPr>
          <a:xfrm>
            <a:off x="5897880" y="5870809"/>
            <a:ext cx="125730" cy="62143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Shape 90"/>
          <p:cNvSpPr/>
          <p:nvPr/>
        </p:nvSpPr>
        <p:spPr>
          <a:xfrm>
            <a:off x="6126480" y="6149197"/>
            <a:ext cx="125730" cy="34304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Shape 91"/>
          <p:cNvSpPr/>
          <p:nvPr/>
        </p:nvSpPr>
        <p:spPr>
          <a:xfrm>
            <a:off x="6355080" y="6098347"/>
            <a:ext cx="125730" cy="39389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Text 92"/>
          <p:cNvSpPr/>
          <p:nvPr/>
        </p:nvSpPr>
        <p:spPr>
          <a:xfrm>
            <a:off x="6858000" y="5943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 ·  AI Agent  ·  Music API  ·  Web Search  ·  Audio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 · 問題動機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現有串流推薦的盲點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6217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09728" cy="105156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只擅長「更多相似」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推薦系統精於相似，但不擅長主動探索。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6217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109728" cy="105156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跳出舒適圈仍要自己來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想拓展品味時，還是得手動搜尋、篩選。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6217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109728" cy="105156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389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389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自然語言需求難以表達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800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真實情境往往帶有「氛圍」「情緒」「冷門」等抽象條件。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828800"/>
            <a:ext cx="4846320" cy="370332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真實需求聽起來像這樣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489563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7431677" y="3094814"/>
            <a:ext cx="4082143" cy="1026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我最近很喜歡 </a:t>
            </a:r>
            <a:r>
              <a:rPr lang="en-US" sz="2000" i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XXX，想找沒聽過</a:t>
            </a: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i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比較冷門、但氛圍相近的音樂</a:t>
            </a: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傳統搜尋 / 推薦系統無法承接這種自然語言需求。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744B30B-C6FF-393A-0678-5B8E0800492F}"/>
              </a:ext>
            </a:extLst>
          </p:cNvPr>
          <p:cNvSpPr/>
          <p:nvPr/>
        </p:nvSpPr>
        <p:spPr>
          <a:xfrm>
            <a:off x="10809209" y="3647803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90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9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PROPOSITION · 我們的主張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1430000" cy="173736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37160" cy="173736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</a:t>
            </a:r>
            <a:r>
              <a:rPr lang="en-US" sz="32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理解需求 </a:t>
            </a: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2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主動探索 </a:t>
            </a: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2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客觀分析 </a:t>
            </a: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2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解釋理由</a:t>
            </a:r>
            <a:endParaRPr lang="en-US" sz="3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的音樂探索夥伴。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核心組合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434840"/>
            <a:ext cx="1271016" cy="640080"/>
          </a:xfrm>
          <a:prstGeom prst="roundRect">
            <a:avLst>
              <a:gd name="adj" fmla="val 21429"/>
            </a:avLst>
          </a:prstGeom>
          <a:solidFill>
            <a:srgbClr val="FFE7EC"/>
          </a:solidFill>
          <a:ln w="12700">
            <a:solidFill>
              <a:srgbClr val="FFE7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5760" y="443484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65376" y="4434840"/>
            <a:ext cx="1800797" cy="640080"/>
          </a:xfrm>
          <a:prstGeom prst="roundRect">
            <a:avLst>
              <a:gd name="adj" fmla="val 21429"/>
            </a:avLst>
          </a:prstGeom>
          <a:solidFill>
            <a:srgbClr val="FFF3D9"/>
          </a:solidFill>
          <a:ln w="12700">
            <a:solidFill>
              <a:srgbClr val="FFF3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865376" y="4434840"/>
            <a:ext cx="1805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7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98487" y="4434840"/>
            <a:ext cx="1800797" cy="640080"/>
          </a:xfrm>
          <a:prstGeom prst="roundRect">
            <a:avLst>
              <a:gd name="adj" fmla="val 21429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893330" y="4434840"/>
            <a:ext cx="1805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Music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19269" y="4411980"/>
            <a:ext cx="1700213" cy="640080"/>
          </a:xfrm>
          <a:prstGeom prst="roundRect">
            <a:avLst>
              <a:gd name="adj" fmla="val 21429"/>
            </a:avLst>
          </a:prstGeom>
          <a:solidFill>
            <a:srgbClr val="FFE7EC"/>
          </a:solidFill>
          <a:ln w="12700">
            <a:solidFill>
              <a:srgbClr val="FFE7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914112" y="4434840"/>
            <a:ext cx="17002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Search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48083" y="4434840"/>
            <a:ext cx="1947428" cy="640080"/>
          </a:xfrm>
          <a:prstGeom prst="roundRect">
            <a:avLst>
              <a:gd name="adj" fmla="val 21429"/>
            </a:avLst>
          </a:prstGeom>
          <a:solidFill>
            <a:srgbClr val="FFF3D9"/>
          </a:solidFill>
          <a:ln w="12700">
            <a:solidFill>
              <a:srgbClr val="FFF3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848082" y="4434840"/>
            <a:ext cx="1947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7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Audio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46970" y="4434840"/>
            <a:ext cx="1783080" cy="640080"/>
          </a:xfrm>
          <a:prstGeom prst="roundRect">
            <a:avLst>
              <a:gd name="adj" fmla="val 21429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0046970" y="4434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個人化資料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5966460"/>
            <a:ext cx="157163" cy="1143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51510" y="5697857"/>
            <a:ext cx="157163" cy="38290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37260" y="5632528"/>
            <a:ext cx="157163" cy="44823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223010" y="5819911"/>
            <a:ext cx="157163" cy="26084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508760" y="5814720"/>
            <a:ext cx="157163" cy="2660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794510" y="5631265"/>
            <a:ext cx="157163" cy="44949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080260" y="5701479"/>
            <a:ext cx="157163" cy="37928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2366010" y="5960695"/>
            <a:ext cx="157163" cy="12006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2651760" y="5694311"/>
            <a:ext cx="157163" cy="38644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937510" y="5633885"/>
            <a:ext cx="157163" cy="44687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223260" y="5825145"/>
            <a:ext cx="157163" cy="25561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3509010" y="5809571"/>
            <a:ext cx="157163" cy="27118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3794760" y="5630097"/>
            <a:ext cx="157163" cy="45066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080510" y="5705176"/>
            <a:ext cx="157163" cy="37558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366260" y="5954931"/>
            <a:ext cx="157163" cy="12582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652010" y="5690842"/>
            <a:ext cx="157163" cy="38991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4937760" y="5635336"/>
            <a:ext cx="157163" cy="44542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5223510" y="5830418"/>
            <a:ext cx="157163" cy="25034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5509260" y="5804467"/>
            <a:ext cx="157163" cy="27629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5795010" y="5629024"/>
            <a:ext cx="157163" cy="451736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080760" y="5708946"/>
            <a:ext cx="157163" cy="37181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366510" y="5949170"/>
            <a:ext cx="157163" cy="13159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6652260" y="5687451"/>
            <a:ext cx="157163" cy="39330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6938010" y="5636881"/>
            <a:ext cx="157163" cy="443879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7223760" y="5835729"/>
            <a:ext cx="157163" cy="24503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7509510" y="5799408"/>
            <a:ext cx="157163" cy="2813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7795260" y="5628047"/>
            <a:ext cx="157163" cy="45271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8081010" y="5712790"/>
            <a:ext cx="157163" cy="36797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8366760" y="5943414"/>
            <a:ext cx="157163" cy="137346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652510" y="5684139"/>
            <a:ext cx="157163" cy="39662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8938260" y="5638519"/>
            <a:ext cx="157163" cy="44224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9224010" y="5841078"/>
            <a:ext cx="157163" cy="23968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9509760" y="5794396"/>
            <a:ext cx="157163" cy="28636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9795510" y="5627165"/>
            <a:ext cx="157163" cy="45359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10081260" y="5716705"/>
            <a:ext cx="157163" cy="36405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10367010" y="5937665"/>
            <a:ext cx="157163" cy="143095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10652760" y="5680907"/>
            <a:ext cx="157163" cy="399853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6"/>
          <p:cNvSpPr/>
          <p:nvPr/>
        </p:nvSpPr>
        <p:spPr>
          <a:xfrm>
            <a:off x="10938510" y="5640249"/>
            <a:ext cx="157163" cy="440511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7"/>
          <p:cNvSpPr/>
          <p:nvPr/>
        </p:nvSpPr>
        <p:spPr>
          <a:xfrm>
            <a:off x="11224260" y="5846462"/>
            <a:ext cx="157163" cy="23429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11510010" y="5789434"/>
            <a:ext cx="157163" cy="291326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63EEAA9A-4669-8964-FB7C-61A4AA2192C7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不只是「推薦歌曲</a:t>
            </a:r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VALUE · 核心差異化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09728" cy="19202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970319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「冷門」不等於「沒聽過」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555966"/>
            <a:ext cx="4149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3A2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而是——跟你的品味有關聯，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1600" i="1" dirty="0">
                <a:solidFill>
                  <a:srgbClr val="3A2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                  </a:t>
            </a:r>
            <a:r>
              <a:rPr lang="en-US" sz="1600" i="1" dirty="0" err="1">
                <a:solidFill>
                  <a:srgbClr val="3A2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但沒近到只是換一首相似歌</a:t>
            </a:r>
            <a:r>
              <a:rPr lang="en-US" sz="1600" i="1" dirty="0">
                <a:solidFill>
                  <a:srgbClr val="3A2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5486400" cy="137160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Discovery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Similarity</a:t>
            </a:r>
            <a:r>
              <a:rPr lang="en-US" sz="1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× 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Familiarity Distance</a:t>
            </a:r>
            <a:r>
              <a:rPr lang="en-US" sz="1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× 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Popularity Factor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96177"/>
              </p:ext>
            </p:extLst>
          </p:nvPr>
        </p:nvGraphicFramePr>
        <p:xfrm>
          <a:off x="6217920" y="1783080"/>
          <a:ext cx="5623560" cy="34290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B84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B84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相似度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B84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熟悉度距離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B84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熱門度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B84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Discovery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4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0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44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44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44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44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944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極遠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2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64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 Museek 的核心價值 — 讓推薦「有關聯，也有驚喜」。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2A82EDD0-EC31-FC19-6620-895F16547A49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Discovery Distance —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探索距離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 · 系統架構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1613259"/>
            <a:ext cx="3383280" cy="68580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0" y="166986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使用者自然語言需求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0094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一句話描述心情、情境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299059"/>
            <a:ext cx="0" cy="217707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931920" y="2516766"/>
            <a:ext cx="4297680" cy="82296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114800" y="260820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🎼 Museek Agent 協調器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913003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7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拆解需求並分配到子工具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79359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679359"/>
            <a:ext cx="91440" cy="9144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7707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 Music Search Tool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36559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+ ReccoBeats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 track / artist / playlist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679359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389120" y="3679359"/>
            <a:ext cx="91440" cy="91440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0" y="37707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📰 Web Research Tool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136559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 / 樂評 / 社群訪談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補足文化脈絡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3679359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321040" y="3679359"/>
            <a:ext cx="91440" cy="9144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503920" y="37707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Reasoning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136559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推導客觀推薦理由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Explain why you'll like 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2103120" y="3333183"/>
            <a:ext cx="2926080" cy="36576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3333183"/>
            <a:ext cx="0" cy="36576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132320" y="3333183"/>
            <a:ext cx="2834640" cy="36576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371600" y="4868079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371600" y="4868079"/>
            <a:ext cx="91440" cy="77724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1554480" y="495951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Discovery Ranking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532527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Similarity × Familiarity × Popularity 排序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4868079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675120" y="4868079"/>
            <a:ext cx="91440" cy="7772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495951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程式層 videoId 驗證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532527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API 實際搜尋，過濾幻覺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4593759"/>
            <a:ext cx="1280160" cy="27432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9966960" y="4593759"/>
            <a:ext cx="0" cy="27432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5486400" y="5261271"/>
            <a:ext cx="1188720" cy="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3931920" y="5945766"/>
            <a:ext cx="4297680" cy="50292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114800" y="603720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🎧 前端播放器 → 使用者評分回饋 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 flipH="1">
            <a:off x="7772400" y="5645319"/>
            <a:ext cx="914400" cy="274320"/>
          </a:xfrm>
          <a:prstGeom prst="line">
            <a:avLst/>
          </a:prstGeom>
          <a:noFill/>
          <a:ln w="19050">
            <a:solidFill>
              <a:srgbClr val="3A2C5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86772480-DBA1-6BB8-9090-8DC6F55422DD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</a:t>
            </a:r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Agent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協調三種能力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 · 三大元件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611880" cy="13716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85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Music Search Tool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Music Retrieval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負責找 track / artist / album，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playlist、驗證 video。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6191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276191" y="1828800"/>
            <a:ext cx="3611880" cy="13716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50511" y="21488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📰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4472940" y="310896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50511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27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0511" y="3566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Research Tool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50511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Music Research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0511" y="4434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查藝人風格、訪談、樂評、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社群討論等文化脈絡。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86623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186623" y="1828800"/>
            <a:ext cx="3611880" cy="13716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460943" y="21488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8460943" y="310896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E7EC"/>
          </a:solidFill>
          <a:ln w="12700">
            <a:solidFill>
              <a:srgbClr val="FFE7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460943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60943" y="3566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Reasoning Agent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60943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Recommendation Reasoning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60943" y="4434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依客觀 audio features 推導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「為什麼這首歌適合你」。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</a:t>
            </a:r>
            <a:r>
              <a:rPr lang="en-US" sz="17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 A vs Search B</a:t>
            </a: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，而是 </a:t>
            </a:r>
            <a:r>
              <a:rPr lang="en-US" sz="17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Retrieval vs Research vs Reasoning</a:t>
            </a: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A0F867E4-36C4-DAC4-9B8E-2A4F85D71D06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職責清楚、不重疊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PIPELINE · 資料流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5798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5798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5798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42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 Playlist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942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URL 輸入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0390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00390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00390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534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一次取 items + Cache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9534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避免重複請求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4982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4982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4982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126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Taste Profile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126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建立品味向量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9574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29574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29574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718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ReccoBeats 找候選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8718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首 candidate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166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94166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94166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310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Discovery Ranking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3310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重排 Top 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8758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858758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858758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7902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驗證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7902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取有效 videoId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233508" y="1828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10233508" y="1828800"/>
            <a:ext cx="1600200" cy="3200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10233508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324948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5 推薦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32494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呈現給使用者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794760"/>
            <a:ext cx="114300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365760" y="3794760"/>
            <a:ext cx="137160" cy="237744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Audio Features 來源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ReccoBeats · 免費、免 API Key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685800" y="48006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685800" y="48006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880360" y="48006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2880360" y="48006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74920" y="48006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5074920" y="48006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69480" y="48006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7269480" y="48006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valence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464040" y="48006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9464040" y="48006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acousticness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5800" y="53035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685800" y="5303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instrumentalness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80360" y="53035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2880360" y="5303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074920" y="53035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5074920" y="5303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loudness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269480" y="53035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9F5F0"/>
          </a:solidFill>
          <a:ln w="12700">
            <a:solidFill>
              <a:srgbClr val="D9F5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7269480" y="53035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speechiness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不讓 LLM 猜 BPM，一切基於客觀數據。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8831CEC0-B56A-5D11-84F9-A418C69B5894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Playlist 到 Top 5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</a:t>
            </a:r>
            <a:endParaRPr lang="en-US" altLang="zh-TW" sz="3400" dirty="0"/>
          </a:p>
        </p:txBody>
      </p:sp>
      <p:sp>
        <p:nvSpPr>
          <p:cNvPr id="10" name="Shape 8"/>
          <p:cNvSpPr/>
          <p:nvPr/>
        </p:nvSpPr>
        <p:spPr>
          <a:xfrm rot="5400000">
            <a:off x="193990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 rot="5400000">
            <a:off x="358582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 rot="5400000">
            <a:off x="523174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 rot="5400000">
            <a:off x="687766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 rot="5400000">
            <a:off x="852358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 rot="5400000">
            <a:off x="10169500" y="2441448"/>
            <a:ext cx="109728" cy="146304"/>
          </a:xfrm>
          <a:prstGeom prst="rtTriangl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REASONING · 有根據的解釋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8977" y="1828800"/>
            <a:ext cx="5669280" cy="393192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07577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· 客觀資料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7577" y="233172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"user_profile": {
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"avg_energy": </a:t>
            </a:r>
            <a:r>
              <a:rPr lang="en-US" sz="1300" b="1" dirty="0">
                <a:solidFill>
                  <a:srgbClr val="F5B8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"avg_valence": </a:t>
            </a:r>
            <a:r>
              <a:rPr lang="en-US" sz="1300" b="1" dirty="0">
                <a:solidFill>
                  <a:srgbClr val="F5B8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"favorite_genres": [</a:t>
            </a:r>
            <a:r>
              <a:rPr lang="en-US" sz="1300" dirty="0">
                <a:solidFill>
                  <a:srgbClr val="17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"R&amp;B"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7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"Neo Soul"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  },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"candidate": {
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"energy": </a:t>
            </a:r>
            <a:r>
              <a:rPr lang="en-US" sz="1300" b="1" dirty="0">
                <a:solidFill>
                  <a:srgbClr val="E9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"valence": </a:t>
            </a:r>
            <a:r>
              <a:rPr lang="en-US" sz="1300" b="1" dirty="0">
                <a:solidFill>
                  <a:srgbClr val="E9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"acousticness": </a:t>
            </a:r>
            <a:r>
              <a:rPr lang="en-US" sz="1300" b="1" dirty="0">
                <a:solidFill>
                  <a:srgbClr val="E9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"tempo": </a:t>
            </a:r>
            <a:r>
              <a:rPr lang="en-US" sz="1300" b="1" dirty="0">
                <a:solidFill>
                  <a:srgbClr val="E9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DE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26918" y="182880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26918" y="1828800"/>
            <a:ext cx="137160" cy="393192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655518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 · 有根據的解釋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35478" y="2771513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081145" y="3228713"/>
            <a:ext cx="4256316" cy="1700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這首歌的 </a:t>
            </a:r>
            <a:r>
              <a:rPr lang="en-US" sz="17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Energy、Valence </a:t>
            </a:r>
            <a:r>
              <a:rPr lang="en-US" sz="1700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與你偏好接近</a:t>
            </a:r>
            <a:r>
              <a:rPr lang="en-US" sz="17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 </a:t>
            </a:r>
            <a:r>
              <a:rPr lang="en-US" sz="1700" b="1" dirty="0">
                <a:solidFill>
                  <a:srgbClr val="17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Acousticness </a:t>
            </a:r>
            <a:r>
              <a:rPr lang="en-US" sz="17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更高，符合你想探索
</a:t>
            </a:r>
            <a:r>
              <a:rPr lang="en-US" sz="1700" b="1" i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更溫暖、自然音色</a:t>
            </a:r>
            <a:r>
              <a:rPr lang="en-US" sz="17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的需求。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0372A71-BA52-1917-15F4-1676F3CB3F70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Reasoning Agent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如何「不亂掰</a:t>
            </a:r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altLang="zh-TW" sz="3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A9F0114-B63A-917A-8142-BE5906FA057D}"/>
              </a:ext>
            </a:extLst>
          </p:cNvPr>
          <p:cNvSpPr/>
          <p:nvPr/>
        </p:nvSpPr>
        <p:spPr>
          <a:xfrm>
            <a:off x="10880261" y="447186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60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SAFETY · 幻覺防護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33001"/>
            <a:ext cx="5212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31520" y="1733001"/>
            <a:ext cx="5212080" cy="4572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1733001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PROBLEM · 問題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3081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會幻覺出不存在的歌，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並附上看似合理的假連結。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561801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產生 fake YouTube ID
· 引用不存在的專輯 / 藝人
· 若直接送到前端 → 播不出、體驗崩壞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8400" y="1733001"/>
            <a:ext cx="5212080" cy="374904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248400" y="1733001"/>
            <a:ext cx="5212080" cy="457200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31280" y="1733001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SOLUTION · 做法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1280" y="2373081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不靠 prompt 限制，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靠程式驗證。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31280" y="3561801"/>
            <a:ext cx="256032" cy="256032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31280" y="35618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97040" y="354351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只輸出 </a:t>
            </a: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title + artist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31280" y="4019001"/>
            <a:ext cx="256032" cy="256032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31280" y="40190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97040" y="400071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後端呼叫 </a:t>
            </a: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API 實際搜尋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31280" y="4476201"/>
            <a:ext cx="256032" cy="256032"/>
          </a:xfrm>
          <a:prstGeom prst="ellips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31280" y="44762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97040" y="445791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查不到? </a:t>
            </a:r>
            <a:r>
              <a:rPr lang="en-US" sz="1300" b="1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直接丟棄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31280" y="4933401"/>
            <a:ext cx="256032" cy="256032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31280" y="49334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97040" y="491511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播放器只吃 </a:t>
            </a:r>
            <a:r>
              <a:rPr lang="en-US" sz="1300" b="1" dirty="0">
                <a:solidFill>
                  <a:srgbClr val="17B8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驗證過的 videoId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760720"/>
            <a:ext cx="10728960" cy="548640"/>
          </a:xfrm>
          <a:prstGeom prst="rect">
            <a:avLst/>
          </a:prstGeom>
          <a:solidFill>
            <a:srgbClr val="1B1230"/>
          </a:solidFill>
          <a:ln w="12700">
            <a:solidFill>
              <a:srgbClr val="1B12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31520" y="576072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絕不讓 LLM 直接生成 URL — </a:t>
            </a: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幻覺歌曲會在驗證步驟被自動過濾。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D4DFD20F-1D7B-630F-A33D-F7B19DBF94AC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r>
              <a:rPr lang="en-US" altLang="zh-TW" sz="3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確定性驗證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FEEDBACK · 回饋學習迴圈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485900" y="1664208"/>
            <a:ext cx="457200" cy="457200"/>
          </a:xfrm>
          <a:prstGeom prst="ellips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859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🎧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推薦 5 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呈現初始清單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81528" y="2926080"/>
            <a:ext cx="182880" cy="201168"/>
          </a:xfrm>
          <a:prstGeom prst="rtTriangl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93364" y="19202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413504" y="1664208"/>
            <a:ext cx="457200" cy="457200"/>
          </a:xfrm>
          <a:prstGeom prst="ellips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4577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3364" y="2240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👍👎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30524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使用者評分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30524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Song A ✓  B ✗  C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09132" y="2926080"/>
            <a:ext cx="182880" cy="201168"/>
          </a:xfrm>
          <a:prstGeom prst="rtTriangl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220968" y="19202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341108" y="1664208"/>
            <a:ext cx="457200" cy="457200"/>
          </a:xfrm>
          <a:prstGeom prst="ellips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411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20968" y="2240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58128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 Taste Vector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8128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energy↑ R&amp;B↑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high energy↓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8936736" y="2926080"/>
            <a:ext cx="182880" cy="201168"/>
          </a:xfrm>
          <a:prstGeom prst="rtTriangl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9128760" y="192024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8900" y="1664208"/>
            <a:ext cx="457200" cy="457200"/>
          </a:xfrm>
          <a:prstGeom prst="ellipse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02489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28760" y="2240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26592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重新計算候選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6592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下一輪更懂你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658600" y="4114800"/>
            <a:ext cx="0" cy="548640"/>
          </a:xfrm>
          <a:prstGeom prst="line">
            <a:avLst/>
          </a:prstGeom>
          <a:noFill/>
          <a:ln w="254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502920" y="4663440"/>
            <a:ext cx="11155680" cy="0"/>
          </a:xfrm>
          <a:prstGeom prst="line">
            <a:avLst/>
          </a:prstGeom>
          <a:noFill/>
          <a:ln w="25400">
            <a:solidFill>
              <a:srgbClr val="F5B84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4114800"/>
            <a:ext cx="0" cy="548640"/>
          </a:xfrm>
          <a:prstGeom prst="line">
            <a:avLst/>
          </a:prstGeom>
          <a:noFill/>
          <a:ln w="254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50292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LOOP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349240"/>
            <a:ext cx="11430000" cy="96012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365760" y="5349240"/>
            <a:ext cx="137160" cy="96012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40080" y="53492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不需複雜 ML，</a:t>
            </a:r>
            <a:r>
              <a:rPr lang="en-US" sz="17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加權特徵即可展示</a:t>
            </a: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—— Agent 會從回饋持續學習。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D049E1BE-78EB-F587-18C3-9D361DD19676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評分不是裝飾，會直接影響下一輪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73152" cy="10058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944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SCOPE · MVP 務實取捨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669280" cy="4114800"/>
          </a:xfrm>
          <a:prstGeom prst="rect">
            <a:avLst/>
          </a:prstGeom>
          <a:solidFill>
            <a:srgbClr val="241738"/>
          </a:solidFill>
          <a:ln w="12700">
            <a:solidFill>
              <a:srgbClr val="241738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669280" cy="54864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· 現在做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2"/>
            </a:solidFill>
            <a:prstDash val="solid"/>
          </a:ln>
          <a:effectLst>
            <a:outerShdw blurRad="177800" dist="38100" dir="5400000" algn="bl" rotWithShape="0">
              <a:srgbClr val="1B123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303520" cy="54864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FUTURE · 之後再做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Playlist 來源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Playlist URL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Playlist 來源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OAuth / 私人 / 聆聽紀錄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319272"/>
            <a:ext cx="521208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720840" y="3319272"/>
            <a:ext cx="4846320" cy="0"/>
          </a:xfrm>
          <a:prstGeom prst="line">
            <a:avLst/>
          </a:prstGeom>
          <a:noFill/>
          <a:ln w="635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Quota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只在最後驗證步驟搜尋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YouTube Quota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 + 批次最佳化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4096512"/>
            <a:ext cx="521208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720840" y="4096512"/>
            <a:ext cx="4846320" cy="0"/>
          </a:xfrm>
          <a:prstGeom prst="line">
            <a:avLst/>
          </a:prstGeom>
          <a:noFill/>
          <a:ln w="635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9436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回饋學習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加權特徵向量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回饋學習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線上學習模型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4873752"/>
            <a:ext cx="521208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6720840" y="4873752"/>
            <a:ext cx="4846320" cy="0"/>
          </a:xfrm>
          <a:prstGeom prst="line">
            <a:avLst/>
          </a:prstGeom>
          <a:noFill/>
          <a:ln w="635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Audio 分析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ReccoBeats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208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Audio 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自建分析 / 多來源融合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先證明核心價值 — 不要第一版就卡在「為什麼 OAuth 又壞了」。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· 音樂探索 Agent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1ECBC577-07F8-C967-AFB9-B56741CCF67C}"/>
              </a:ext>
            </a:extLst>
          </p:cNvPr>
          <p:cNvSpPr/>
          <p:nvPr/>
        </p:nvSpPr>
        <p:spPr>
          <a:xfrm>
            <a:off x="274320" y="755463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2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先證明核心價值，其他之後再說</a:t>
            </a:r>
            <a:endParaRPr lang="en-US" altLang="zh-TW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6868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6012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0584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5156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0972800" y="4572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7724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2296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86868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96012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00584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05156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6868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1440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6012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0584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05156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0972800" y="13716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77724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82296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86868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1440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96012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100584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105156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10972800" y="18288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7724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82296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86868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91440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96012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00584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05156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10972800" y="2286000"/>
            <a:ext cx="45720" cy="45720"/>
          </a:xfrm>
          <a:prstGeom prst="ellipse">
            <a:avLst/>
          </a:prstGeom>
          <a:solidFill>
            <a:srgbClr val="E9446A">
              <a:alpha val="50000"/>
            </a:srgbClr>
          </a:solidFill>
          <a:ln w="12700">
            <a:solidFill>
              <a:srgbClr val="E944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40080" y="731520"/>
            <a:ext cx="822960" cy="54864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SUMMARY · 總結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Museek = </a:t>
            </a:r>
            <a:r>
              <a:rPr lang="en-US" sz="34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理解需求 </a:t>
            </a: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</a:t>
            </a:r>
            <a:r>
              <a:rPr lang="en-US" sz="34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主動探索 </a:t>
            </a: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
</a:t>
            </a:r>
            <a:r>
              <a:rPr lang="en-US" sz="34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客觀分析 </a:t>
            </a: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</a:t>
            </a:r>
            <a:r>
              <a:rPr lang="en-US" sz="34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可解釋推薦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335128" y="3108960"/>
            <a:ext cx="2194560" cy="2560320"/>
          </a:xfrm>
          <a:prstGeom prst="rect">
            <a:avLst/>
          </a:prstGeom>
          <a:solidFill>
            <a:srgbClr val="2E1F4E"/>
          </a:solidFill>
          <a:ln w="635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335128" y="3108960"/>
            <a:ext cx="2194560" cy="731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335128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72288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Discovery Distance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72288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重新定義「冷門」——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有關聯但有驚喜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666848" y="3108960"/>
            <a:ext cx="2194560" cy="2560320"/>
          </a:xfrm>
          <a:prstGeom prst="rect">
            <a:avLst/>
          </a:prstGeom>
          <a:solidFill>
            <a:srgbClr val="2E1F4E"/>
          </a:solidFill>
          <a:ln w="635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2666848" y="3108960"/>
            <a:ext cx="2194560" cy="731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2666848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🎛️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2804008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 Audio Features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804008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ReccoBeats 供資料，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不靠 LLM 猜測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98568" y="3108960"/>
            <a:ext cx="2194560" cy="2560320"/>
          </a:xfrm>
          <a:prstGeom prst="rect">
            <a:avLst/>
          </a:prstGeom>
          <a:solidFill>
            <a:srgbClr val="2E1F4E"/>
          </a:solidFill>
          <a:ln w="635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4998568" y="3108960"/>
            <a:ext cx="2194560" cy="731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4998568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3200" dirty="0"/>
          </a:p>
        </p:txBody>
      </p:sp>
      <p:sp>
        <p:nvSpPr>
          <p:cNvPr id="58" name="Text 56"/>
          <p:cNvSpPr/>
          <p:nvPr/>
        </p:nvSpPr>
        <p:spPr>
          <a:xfrm>
            <a:off x="5135728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Retrieval / Research / Reasoning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135728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職責清楚的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三元件設計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330288" y="3108960"/>
            <a:ext cx="2194560" cy="2560320"/>
          </a:xfrm>
          <a:prstGeom prst="rect">
            <a:avLst/>
          </a:prstGeom>
          <a:solidFill>
            <a:srgbClr val="2E1F4E"/>
          </a:solidFill>
          <a:ln w="635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7330288" y="3108960"/>
            <a:ext cx="2194560" cy="731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330288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7467448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確定性驗證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467448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擋住 LLM 幻覺與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injection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662008" y="3108960"/>
            <a:ext cx="2194560" cy="2560320"/>
          </a:xfrm>
          <a:prstGeom prst="rect">
            <a:avLst/>
          </a:prstGeom>
          <a:solidFill>
            <a:srgbClr val="2E1F4E"/>
          </a:solidFill>
          <a:ln w="635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4"/>
          <p:cNvSpPr/>
          <p:nvPr/>
        </p:nvSpPr>
        <p:spPr>
          <a:xfrm>
            <a:off x="9662008" y="3108960"/>
            <a:ext cx="2194560" cy="73152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9662008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9799168" y="4069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回饋迴圈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799168" y="4892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越用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越懂你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0080" y="6035040"/>
            <a:ext cx="54864" cy="457200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9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不只是推薦歌曲 —— 而是陪你探索音樂的夥伴。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11688775" y="6518367"/>
            <a:ext cx="109728" cy="109728"/>
          </a:xfrm>
          <a:prstGeom prst="rect">
            <a:avLst/>
          </a:prstGeom>
          <a:solidFill>
            <a:srgbClr val="E9446A"/>
          </a:solidFill>
          <a:ln w="12700">
            <a:solidFill>
              <a:srgbClr val="E944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820</Words>
  <Application>Microsoft Office PowerPoint</Application>
  <PresentationFormat>寬螢幕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Museek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Museek 音樂探索 Agent</dc:title>
  <dc:subject>PptxGenJS Presentation</dc:subject>
  <dc:creator>Museek Team</dc:creator>
  <cp:lastModifiedBy>黃逸軒Sharon Huang-金融技術部-永豐銀行</cp:lastModifiedBy>
  <cp:revision>9</cp:revision>
  <dcterms:created xsi:type="dcterms:W3CDTF">2026-08-24T08:28:27Z</dcterms:created>
  <dcterms:modified xsi:type="dcterms:W3CDTF">2026-08-24T09:25:47Z</dcterms:modified>
</cp:coreProperties>
</file>